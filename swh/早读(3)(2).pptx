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sung" initials="s" lastIdx="0" clrIdx="0"/>
  <p:cmAuthor id="2" name="未知用户1" initials="未知用户1" lastIdx="0" clrIdx="1"/>
  <p:cmAuthor id="3" name="作者" initials="A" lastIdx="0" clrIdx="2"/>
  <p:cmAuthor id="4" name="psylife" initials="p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fade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8F76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fade/>
      </p:transition>
    </mc:Choice>
    <mc:Fallback>
      <p:transition spd="slow" advClick="0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288925" y="1416685"/>
            <a:ext cx="6169025" cy="4857750"/>
            <a:chOff x="3170" y="2650"/>
            <a:chExt cx="9235" cy="7650"/>
          </a:xfrm>
        </p:grpSpPr>
        <p:sp>
          <p:nvSpPr>
            <p:cNvPr id="13" name="wps稻壳儿佳誉设计原创链接：http://chn.docer.com/works?userid=219874625_5_8_2_5_11_3_7"/>
            <p:cNvSpPr/>
            <p:nvPr>
              <p:custDataLst>
                <p:tags r:id="rId2"/>
              </p:custDataLst>
            </p:nvPr>
          </p:nvSpPr>
          <p:spPr>
            <a:xfrm>
              <a:off x="3230" y="5489"/>
              <a:ext cx="9175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lvl="0" algn="l" defTabSz="6096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en-US" altLang="zh-CN" sz="2400" b="1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楷体" panose="02010609060101010101" pitchFamily="49" charset="-122"/>
                  <a:sym typeface="+mn-lt"/>
                </a:rPr>
                <a:t> </a:t>
              </a:r>
              <a:endParaRPr lang="en-US" altLang="zh-CN" sz="2400" b="1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  <a:sym typeface="+mn-lt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3170" y="2650"/>
              <a:ext cx="8723" cy="7650"/>
              <a:chOff x="3170" y="2665"/>
              <a:chExt cx="8723" cy="7650"/>
            </a:xfrm>
          </p:grpSpPr>
          <p:sp>
            <p:nvSpPr>
              <p:cNvPr id="8" name="wps稻壳儿佳誉设计原创链接：http://chn.docer.com/works?userid=219874625_5_8_2_5_11_3_7"/>
              <p:cNvSpPr/>
              <p:nvPr>
                <p:custDataLst>
                  <p:tags r:id="rId3"/>
                </p:custDataLst>
              </p:nvPr>
            </p:nvSpPr>
            <p:spPr>
              <a:xfrm>
                <a:off x="3170" y="2665"/>
                <a:ext cx="8723" cy="2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marL="0" marR="0" lvl="0" indent="0" defTabSz="6096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1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、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齐读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书本第一课第一框正文部分</a:t>
                </a:r>
                <a:r>
                  <a:rPr lang="en-US" altLang="zh-CN" sz="24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 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lt"/>
                </a:endParaRPr>
              </a:p>
            </p:txBody>
          </p:sp>
          <p:sp>
            <p:nvSpPr>
              <p:cNvPr id="12" name="wps稻壳儿佳誉设计原创链接：http://chn.docer.com/works?userid=219874625_5_8_2_5_11_3_7"/>
              <p:cNvSpPr/>
              <p:nvPr>
                <p:custDataLst>
                  <p:tags r:id="rId4"/>
                </p:custDataLst>
              </p:nvPr>
            </p:nvSpPr>
            <p:spPr>
              <a:xfrm>
                <a:off x="3200" y="4064"/>
                <a:ext cx="8472" cy="62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lvl="0" algn="l" defTabSz="6096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2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、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自由背诵：</a:t>
                </a:r>
                <a:endParaRPr lang="zh-CN" altLang="en-US" sz="28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lt"/>
                </a:endParaRPr>
              </a:p>
              <a:p>
                <a:pPr lvl="0" algn="l" defTabSz="6096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哲学的本义、哲学的起源、哲学与时代的关系、哲学与世界观的关系、哲学与世界观和方法论的关系、哲学与具体科学的关系、哲学的基本问题是什么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 </a:t>
                </a:r>
                <a:endParaRPr lang="en-US" altLang="zh-CN" sz="28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lt"/>
                </a:endParaRPr>
              </a:p>
            </p:txBody>
          </p:sp>
        </p:grpSp>
      </p:grpSp>
      <p:sp>
        <p:nvSpPr>
          <p:cNvPr id="6" name="wps稻壳儿佳誉设计原创链接：http://chn.docer.com/works?userid=219874625_5_8_2_5_11_3_6" descr="7b0a20202020227461726765744d6f64756c65223a202270726f636573734f6e6c696e65466f6e7473220a7d0a"/>
          <p:cNvSpPr txBox="1"/>
          <p:nvPr/>
        </p:nvSpPr>
        <p:spPr>
          <a:xfrm>
            <a:off x="328930" y="390525"/>
            <a:ext cx="78486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800">
                <a:solidFill>
                  <a:srgbClr val="373637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政治早读任务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2026.9.4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雪君体简" panose="02010600000101010101" charset="-122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49870" y="180340"/>
            <a:ext cx="2786380" cy="1040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500">
                <a:latin typeface="华文行楷" panose="02010800040101010101" charset="-122"/>
                <a:ea typeface="华文行楷" panose="02010800040101010101" charset="-122"/>
                <a:sym typeface="+mn-ea"/>
              </a:rPr>
              <a:t>纵有疾风起，人生不言弃。</a:t>
            </a:r>
            <a:endParaRPr lang="zh-CN" altLang="en-US" sz="3500"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 descr="a7b4855c91c846708a99cc728acefb19.jpeg~tplv-a9rns2rl98-image_r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130" y="1416685"/>
            <a:ext cx="5032375" cy="50323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wps稻壳儿佳誉设计原创链接：http://chn.docer.com/works?userid=219874625_5_8_2_5_11_3_6" descr="7b0a20202020227461726765744d6f64756c65223a202270726f636573734f6e6c696e65466f6e7473220a7d0a"/>
          <p:cNvSpPr txBox="1"/>
          <p:nvPr/>
        </p:nvSpPr>
        <p:spPr>
          <a:xfrm>
            <a:off x="319405" y="285750"/>
            <a:ext cx="63455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800">
                <a:solidFill>
                  <a:srgbClr val="373637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政治早读任务</a:t>
            </a:r>
            <a:r>
              <a:rPr lang="en-US" altLang="zh-CN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 </a:t>
            </a:r>
            <a:r>
              <a: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2026.9.</a:t>
            </a:r>
            <a:r>
              <a:rPr lang="en-US" altLang="zh-CN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18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雪君体简" panose="02010600000101010101" charset="-122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75930" y="180340"/>
            <a:ext cx="3527425" cy="1040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500">
                <a:latin typeface="华文行楷" panose="02010800040101010101" charset="-122"/>
                <a:ea typeface="华文行楷" panose="02010800040101010101" charset="-122"/>
              </a:rPr>
              <a:t>你若决定灿烂，山无遮，海无拦。</a:t>
            </a:r>
            <a:endParaRPr lang="zh-CN" altLang="en-US" sz="3500"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2" name="图片 1" descr="de7622fb-7604-476c-a477-d31fadca8b00_1758115329064584926_origin~tplv-a9rns2rl98-image-dark-watermar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5525" y="1506220"/>
            <a:ext cx="4728210" cy="47282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162911" y="1311910"/>
            <a:ext cx="7522794" cy="5421630"/>
            <a:chOff x="2924" y="2485"/>
            <a:chExt cx="9700" cy="8538"/>
          </a:xfrm>
        </p:grpSpPr>
        <p:sp>
          <p:nvSpPr>
            <p:cNvPr id="9" name="wps稻壳儿佳誉设计原创链接：http://chn.docer.com/works?userid=219874625_5_8_2_5_11_3_7"/>
            <p:cNvSpPr/>
            <p:nvPr>
              <p:custDataLst>
                <p:tags r:id="rId3"/>
              </p:custDataLst>
            </p:nvPr>
          </p:nvSpPr>
          <p:spPr>
            <a:xfrm>
              <a:off x="3230" y="5489"/>
              <a:ext cx="9175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lvl="0" algn="l" defTabSz="6096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en-US" altLang="zh-CN" sz="2400" b="1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楷体" panose="02010609060101010101" pitchFamily="49" charset="-122"/>
                  <a:sym typeface="+mn-lt"/>
                </a:rPr>
                <a:t> </a:t>
              </a:r>
              <a:endParaRPr lang="en-US" altLang="zh-CN" sz="2400" b="1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  <a:sym typeface="+mn-lt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2924" y="2485"/>
              <a:ext cx="9700" cy="8538"/>
              <a:chOff x="2924" y="2500"/>
              <a:chExt cx="9700" cy="8538"/>
            </a:xfrm>
          </p:grpSpPr>
          <p:sp>
            <p:nvSpPr>
              <p:cNvPr id="11" name="wps稻壳儿佳誉设计原创链接：http://chn.docer.com/works?userid=219874625_5_8_2_5_11_3_7"/>
              <p:cNvSpPr/>
              <p:nvPr>
                <p:custDataLst>
                  <p:tags r:id="rId4"/>
                </p:custDataLst>
              </p:nvPr>
            </p:nvSpPr>
            <p:spPr>
              <a:xfrm>
                <a:off x="2924" y="2500"/>
                <a:ext cx="9700" cy="2344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p>
                <a:pPr marL="0" marR="0" lvl="0" indent="0" defTabSz="6096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1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、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齐读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书本第二课＋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第三课第一框正文部分</a:t>
                </a:r>
                <a:r>
                  <a:rPr lang="en-US" altLang="zh-CN" sz="24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 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lt"/>
                </a:endParaRPr>
              </a:p>
            </p:txBody>
          </p:sp>
          <p:sp>
            <p:nvSpPr>
              <p:cNvPr id="19" name="wps稻壳儿佳誉设计原创链接：http://chn.docer.com/works?userid=219874625_5_8_2_5_11_3_7"/>
              <p:cNvSpPr/>
              <p:nvPr>
                <p:custDataLst>
                  <p:tags r:id="rId5"/>
                </p:custDataLst>
              </p:nvPr>
            </p:nvSpPr>
            <p:spPr>
              <a:xfrm>
                <a:off x="2924" y="3769"/>
                <a:ext cx="8936" cy="72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lvl="0" algn="l" defTabSz="6096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2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、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自由背诵：</a:t>
                </a:r>
                <a:endParaRPr lang="zh-CN" altLang="en-US" sz="28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lt"/>
                </a:endParaRPr>
              </a:p>
              <a:p>
                <a:pPr lvl="0" algn="l" defTabSz="6096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（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1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）如何正确发挥主观能动性（意识的能动作用原理）</a:t>
                </a:r>
                <a:endParaRPr lang="zh-CN" altLang="en-US" sz="28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lt"/>
                </a:endParaRPr>
              </a:p>
              <a:p>
                <a:pPr lvl="0" algn="l" defTabSz="6096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（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2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）如何坚持一切从实际出发，实事求是</a:t>
                </a:r>
                <a:endParaRPr lang="zh-CN" altLang="en-US" sz="28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lt"/>
                </a:endParaRPr>
              </a:p>
              <a:p>
                <a:pPr lvl="0" algn="l" defTabSz="6096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（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3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）联系的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定义</a:t>
                </a:r>
                <a:endParaRPr lang="zh-CN" altLang="en-US" sz="28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lt"/>
                </a:endParaRPr>
              </a:p>
              <a:p>
                <a:pPr lvl="0" algn="l" defTabSz="6096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（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4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）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 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联系的普遍性、客观性、多样性原理及其方法论</a:t>
                </a:r>
                <a:endParaRPr lang="zh-CN" altLang="en-US" sz="28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wps稻壳儿佳誉设计原创链接：http://chn.docer.com/works?userid=219874625_5_8_2_5_11_3_6" descr="7b0a20202020227461726765744d6f64756c65223a202270726f636573734f6e6c696e65466f6e7473220a7d0a"/>
          <p:cNvSpPr txBox="1"/>
          <p:nvPr/>
        </p:nvSpPr>
        <p:spPr>
          <a:xfrm>
            <a:off x="319405" y="45720"/>
            <a:ext cx="63455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800">
                <a:solidFill>
                  <a:srgbClr val="373637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政治早读任务</a:t>
            </a:r>
            <a:r>
              <a:rPr lang="en-US" altLang="zh-CN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 </a:t>
            </a:r>
            <a:r>
              <a: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2026.</a:t>
            </a:r>
            <a:r>
              <a:rPr lang="en-US" altLang="zh-CN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10</a:t>
            </a:r>
            <a:r>
              <a: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.</a:t>
            </a:r>
            <a:r>
              <a:rPr lang="en-US" altLang="zh-CN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8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雪君体简" panose="02010600000101010101" charset="-122"/>
              <a:sym typeface="+mn-lt"/>
            </a:endParaRPr>
          </a:p>
        </p:txBody>
      </p:sp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162911" y="875665"/>
            <a:ext cx="7522794" cy="6068060"/>
            <a:chOff x="2924" y="2485"/>
            <a:chExt cx="9700" cy="9556"/>
          </a:xfrm>
        </p:grpSpPr>
        <p:sp>
          <p:nvSpPr>
            <p:cNvPr id="9" name="wps稻壳儿佳誉设计原创链接：http://chn.docer.com/works?userid=219874625_5_8_2_5_11_3_7"/>
            <p:cNvSpPr/>
            <p:nvPr>
              <p:custDataLst>
                <p:tags r:id="rId2"/>
              </p:custDataLst>
            </p:nvPr>
          </p:nvSpPr>
          <p:spPr>
            <a:xfrm>
              <a:off x="3230" y="5489"/>
              <a:ext cx="9175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lvl="0" algn="l" defTabSz="6096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en-US" altLang="zh-CN" sz="2400" b="1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楷体" panose="02010609060101010101" pitchFamily="49" charset="-122"/>
                  <a:sym typeface="+mn-lt"/>
                </a:rPr>
                <a:t> </a:t>
              </a:r>
              <a:endParaRPr lang="en-US" altLang="zh-CN" sz="2400" b="1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  <a:sym typeface="+mn-lt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2924" y="2485"/>
              <a:ext cx="9700" cy="9556"/>
              <a:chOff x="2924" y="2500"/>
              <a:chExt cx="9700" cy="9556"/>
            </a:xfrm>
          </p:grpSpPr>
          <p:sp>
            <p:nvSpPr>
              <p:cNvPr id="11" name="wps稻壳儿佳誉设计原创链接：http://chn.docer.com/works?userid=219874625_5_8_2_5_11_3_7"/>
              <p:cNvSpPr/>
              <p:nvPr>
                <p:custDataLst>
                  <p:tags r:id="rId3"/>
                </p:custDataLst>
              </p:nvPr>
            </p:nvSpPr>
            <p:spPr>
              <a:xfrm>
                <a:off x="2924" y="2500"/>
                <a:ext cx="9700" cy="2344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p>
                <a:pPr marL="0" marR="0" lvl="0" indent="0" defTabSz="6096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1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、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齐读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书本第三课正文部分</a:t>
                </a:r>
                <a:r>
                  <a:rPr lang="en-US" altLang="zh-CN" sz="24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 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lt"/>
                </a:endParaRPr>
              </a:p>
            </p:txBody>
          </p:sp>
          <p:sp>
            <p:nvSpPr>
              <p:cNvPr id="19" name="wps稻壳儿佳誉设计原创链接：http://chn.docer.com/works?userid=219874625_5_8_2_5_11_3_7"/>
              <p:cNvSpPr/>
              <p:nvPr>
                <p:custDataLst>
                  <p:tags r:id="rId4"/>
                </p:custDataLst>
              </p:nvPr>
            </p:nvSpPr>
            <p:spPr>
              <a:xfrm>
                <a:off x="2924" y="3769"/>
                <a:ext cx="8284" cy="82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lvl="0" algn="l" defTabSz="6096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2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、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自由背诵：</a:t>
                </a:r>
                <a:endParaRPr lang="zh-CN" altLang="en-US" sz="28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lt"/>
                </a:endParaRPr>
              </a:p>
              <a:p>
                <a:pPr lvl="0" algn="l" defTabSz="6096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（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1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）联系的多样性方法论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;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（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2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）整体和部分的辩证关系原理及方法论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;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（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3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）发展的实质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;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（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4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）量变和质变的辩证关系原理及方法论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;（5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）发展的前进性和曲折性相统一原理（发展的途径）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;(6)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对立统一原理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；(7)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矛盾的普遍性原理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及方法论</a:t>
                </a:r>
                <a:endParaRPr lang="zh-CN" altLang="en-US" sz="28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7810500" y="577850"/>
            <a:ext cx="3490595" cy="1040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500">
                <a:latin typeface="华文行楷" panose="02010800040101010101" charset="-122"/>
                <a:ea typeface="华文行楷" panose="02010800040101010101" charset="-122"/>
                <a:sym typeface="+mn-ea"/>
              </a:rPr>
              <a:t>星光不负赶路人，时光不负有心人。</a:t>
            </a:r>
            <a:endParaRPr lang="zh-CN" altLang="en-US" sz="3500">
              <a:latin typeface="思源宋体" panose="02020700000000000000" charset="-122"/>
              <a:ea typeface="思源宋体" panose="02020700000000000000" charset="-122"/>
            </a:endParaRPr>
          </a:p>
        </p:txBody>
      </p:sp>
      <p:pic>
        <p:nvPicPr>
          <p:cNvPr id="4" name="图片 3" descr="8f142a0547cc480fbc8ddce2da8487dd.jpeg~tplv-a9rns2rl98-image_raw"/>
          <p:cNvPicPr>
            <a:picLocks noChangeAspect="1"/>
          </p:cNvPicPr>
          <p:nvPr/>
        </p:nvPicPr>
        <p:blipFill>
          <a:blip r:embed="rId5"/>
          <a:srcRect l="5553" r="3510"/>
          <a:stretch>
            <a:fillRect/>
          </a:stretch>
        </p:blipFill>
        <p:spPr>
          <a:xfrm>
            <a:off x="6588125" y="2117725"/>
            <a:ext cx="5603875" cy="40709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wps稻壳儿佳誉设计原创链接：http://chn.docer.com/works?userid=219874625_5_8_2_5_11_3_6" descr="7b0a20202020227461726765744d6f64756c65223a202270726f636573734f6e6c696e65466f6e7473220a7d0a"/>
          <p:cNvSpPr txBox="1"/>
          <p:nvPr/>
        </p:nvSpPr>
        <p:spPr>
          <a:xfrm>
            <a:off x="319405" y="45720"/>
            <a:ext cx="63455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800">
                <a:solidFill>
                  <a:srgbClr val="373637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政治早读任务</a:t>
            </a:r>
            <a:r>
              <a:rPr lang="en-US" altLang="zh-CN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 </a:t>
            </a:r>
            <a:r>
              <a: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2026.</a:t>
            </a:r>
            <a:r>
              <a:rPr lang="en-US" altLang="zh-CN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10</a:t>
            </a:r>
            <a:r>
              <a:rPr lang="zh-CN" altLang="en-US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.</a:t>
            </a:r>
            <a:r>
              <a:rPr lang="en-US" altLang="zh-CN" sz="3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汉仪雪君体简" panose="02010600000101010101" charset="-122"/>
                <a:sym typeface="+mn-lt"/>
              </a:rPr>
              <a:t>30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汉仪雪君体简" panose="02010600000101010101" charset="-122"/>
              <a:sym typeface="+mn-lt"/>
            </a:endParaRPr>
          </a:p>
        </p:txBody>
      </p:sp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128011" y="965200"/>
            <a:ext cx="7522794" cy="6029325"/>
            <a:chOff x="2879" y="2626"/>
            <a:chExt cx="9700" cy="9495"/>
          </a:xfrm>
        </p:grpSpPr>
        <p:sp>
          <p:nvSpPr>
            <p:cNvPr id="9" name="wps稻壳儿佳誉设计原创链接：http://chn.docer.com/works?userid=219874625_5_8_2_5_11_3_7"/>
            <p:cNvSpPr/>
            <p:nvPr>
              <p:custDataLst>
                <p:tags r:id="rId2"/>
              </p:custDataLst>
            </p:nvPr>
          </p:nvSpPr>
          <p:spPr>
            <a:xfrm>
              <a:off x="3230" y="5489"/>
              <a:ext cx="9175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lvl="0" algn="l" defTabSz="6096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en-US" altLang="zh-CN" sz="2400" b="1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楷体" panose="02010609060101010101" pitchFamily="49" charset="-122"/>
                  <a:sym typeface="+mn-lt"/>
                </a:rPr>
                <a:t> </a:t>
              </a:r>
              <a:endParaRPr lang="en-US" altLang="zh-CN" sz="2400" b="1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楷体" panose="02010609060101010101" pitchFamily="49" charset="-122"/>
                <a:sym typeface="+mn-lt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2879" y="2626"/>
              <a:ext cx="9700" cy="9495"/>
              <a:chOff x="2879" y="2641"/>
              <a:chExt cx="9700" cy="9495"/>
            </a:xfrm>
          </p:grpSpPr>
          <p:sp>
            <p:nvSpPr>
              <p:cNvPr id="11" name="wps稻壳儿佳誉设计原创链接：http://chn.docer.com/works?userid=219874625_5_8_2_5_11_3_7"/>
              <p:cNvSpPr/>
              <p:nvPr>
                <p:custDataLst>
                  <p:tags r:id="rId3"/>
                </p:custDataLst>
              </p:nvPr>
            </p:nvSpPr>
            <p:spPr>
              <a:xfrm>
                <a:off x="2879" y="2641"/>
                <a:ext cx="9700" cy="2344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p>
                <a:pPr marL="0" marR="0" lvl="0" indent="0" defTabSz="6096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1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、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齐读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书本第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五课正文部分</a:t>
                </a:r>
                <a:r>
                  <a:rPr lang="en-US" altLang="zh-CN" sz="24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 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lt"/>
                </a:endParaRPr>
              </a:p>
            </p:txBody>
          </p:sp>
          <p:sp>
            <p:nvSpPr>
              <p:cNvPr id="19" name="wps稻壳儿佳誉设计原创链接：http://chn.docer.com/works?userid=219874625_5_8_2_5_11_3_7"/>
              <p:cNvSpPr/>
              <p:nvPr>
                <p:custDataLst>
                  <p:tags r:id="rId4"/>
                </p:custDataLst>
              </p:nvPr>
            </p:nvSpPr>
            <p:spPr>
              <a:xfrm>
                <a:off x="2923" y="3849"/>
                <a:ext cx="8284" cy="82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lvl="0" algn="l" defTabSz="6096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2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、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自由背诵：</a:t>
                </a:r>
                <a:endParaRPr lang="zh-CN" altLang="en-US" sz="28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lt"/>
                </a:endParaRPr>
              </a:p>
              <a:p>
                <a:pPr lvl="0" algn="l" defTabSz="60960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（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1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）实践的含义和特点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;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（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2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）实践是认识的基础原理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;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（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3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）真理的属性原理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;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（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4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）追求真理是一个过程原理（认识的特征原理）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;（5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）社会存在与社会意识的辩证关系原理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;(6)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人类社会基本矛盾运动原理</a:t>
                </a:r>
                <a:r>
                  <a:rPr lang="en-US" altLang="zh-CN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；(7)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社会历史发展的总趋势和实现</a:t>
                </a:r>
                <a:r>
                  <a:rPr lang="zh-CN" altLang="en-US" sz="28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  <a:sym typeface="+mn-lt"/>
                  </a:rPr>
                  <a:t>途径</a:t>
                </a:r>
                <a:endParaRPr lang="zh-CN" altLang="en-US" sz="28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  <a:sym typeface="+mn-lt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7810500" y="291465"/>
            <a:ext cx="3490595" cy="1040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500">
                <a:latin typeface="华文行楷" panose="02010800040101010101" charset="-122"/>
                <a:ea typeface="华文行楷" panose="02010800040101010101" charset="-122"/>
                <a:sym typeface="+mn-ea"/>
              </a:rPr>
              <a:t>道路是曲折的，</a:t>
            </a:r>
            <a:endParaRPr lang="zh-CN" altLang="en-US" sz="3500"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500">
                <a:latin typeface="华文行楷" panose="02010800040101010101" charset="-122"/>
                <a:ea typeface="华文行楷" panose="02010800040101010101" charset="-122"/>
                <a:sym typeface="+mn-ea"/>
              </a:rPr>
              <a:t>前途是光明的。</a:t>
            </a:r>
            <a:endParaRPr lang="zh-CN" altLang="en-US" sz="3500"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500">
                <a:latin typeface="华文行楷" panose="02010800040101010101" charset="-122"/>
                <a:ea typeface="华文行楷" panose="02010800040101010101" charset="-122"/>
                <a:sym typeface="+mn-ea"/>
              </a:rPr>
              <a:t>。</a:t>
            </a:r>
            <a:endParaRPr lang="zh-CN" altLang="en-US" sz="3500">
              <a:latin typeface="思源宋体" panose="02020700000000000000" charset="-122"/>
              <a:ea typeface="思源宋体" panose="02020700000000000000" charset="-122"/>
            </a:endParaRPr>
          </a:p>
        </p:txBody>
      </p:sp>
      <p:pic>
        <p:nvPicPr>
          <p:cNvPr id="2" name="图片 1" descr="b4aeadf1cda24dc7b1c4ea7fb69710cc.jpeg~tplv-a9rns2rl98-image_r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055" y="1617980"/>
            <a:ext cx="5021580" cy="50215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ags/tag2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ags/tag3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ags/tag4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ags/tag5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ags/tag6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ags/tag7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ags/tag8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ags/tag9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ags/tag10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ags/tag11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ags/tag12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ags/tag13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ags/tag14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ags/tag15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ags/tag16.xml><?xml version="1.0" encoding="utf-8"?>
<p:tagLst xmlns:p="http://schemas.openxmlformats.org/presentationml/2006/main">
  <p:tag name="KSO_WM_DIAGRAM_VIRTUALLY_FRAME" val="{&quot;height&quot;:254.15,&quot;left&quot;:72.75,&quot;top&quot;:110.65,&quot;width&quot;:618.1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字魂81号-清风体"/>
        <a:ea typeface="字魂81号-清风体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字魂81号-清风体"/>
        <a:ea typeface="字魂81号-清风体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</Words>
  <Application>WPS 演示</Application>
  <PresentationFormat>宽屏</PresentationFormat>
  <Paragraphs>49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楷体</vt:lpstr>
      <vt:lpstr>汉仪雪君体简</vt:lpstr>
      <vt:lpstr>华文行楷</vt:lpstr>
      <vt:lpstr>思源宋体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lihang dong</dc:creator>
  <cp:lastModifiedBy>小猴子黏黏糖</cp:lastModifiedBy>
  <cp:revision>8</cp:revision>
  <dcterms:created xsi:type="dcterms:W3CDTF">2026-10-08T05:46:00Z</dcterms:created>
  <dcterms:modified xsi:type="dcterms:W3CDTF">2026-10-29T14:11:47Z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2BE4619353B048D6AFE63B65302F8C13_12</vt:lpwstr>
  </property>
</Properties>
</file>